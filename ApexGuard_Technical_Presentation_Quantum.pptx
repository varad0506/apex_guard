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_Photography_Poster_Powerful_acceleration.png"/>
          <p:cNvPicPr>
            <a:picLocks noChangeAspect="1"/>
          </p:cNvPicPr>
          <p:nvPr/>
        </p:nvPicPr>
        <p:blipFill>
          <a:blip r:embed="rId2"/>
          <a:srcRect l="20223" r="2022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18001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16833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15665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5029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864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566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APEX</a:t>
            </a:r>
            <a:r>
              <a:rPr sz="1700" b="1">
                <a:solidFill>
                  <a:srgbClr val="FF4D5E"/>
                </a:solidFill>
                <a:latin typeface="Segoe UI"/>
              </a:rPr>
              <a:t>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4D5E"/>
                </a:solidFill>
                <a:latin typeface="Segoe UI"/>
              </a:rPr>
              <a:t>COMPETITION TECHNICAL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8778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ApexGuard: Verification-Gated AI Decision Engine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for Live Race Energy &amp; Overtake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DBE4F5"/>
                </a:solidFill>
                <a:latin typeface="Segoe UI"/>
              </a:rPr>
              <a:t>Features &amp; Machine Learning Models — Technical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0644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25648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5</a:t>
            </a:r>
            <a:r>
              <a:rPr sz="1100" b="0">
                <a:solidFill>
                  <a:srgbClr val="DBE4F5"/>
                </a:solidFill>
                <a:latin typeface="Segoe UI"/>
              </a:rPr>
              <a:t> learned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9292" y="5806440"/>
            <a:ext cx="4983480" cy="384048"/>
          </a:xfrm>
          <a:prstGeom prst="roundRect">
            <a:avLst>
              <a:gd name="adj" fmla="val 50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9292" y="587044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  <a:r>
              <a:rPr sz="1100" b="0">
                <a:solidFill>
                  <a:srgbClr val="DBE4F5"/>
                </a:solidFill>
                <a:latin typeface="Segoe UI"/>
              </a:rPr>
              <a:t> statistical verifier with final authority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91372" y="5806440"/>
            <a:ext cx="3511296" cy="384048"/>
          </a:xfrm>
          <a:prstGeom prst="roundRect">
            <a:avLst>
              <a:gd name="adj" fmla="val 50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1372" y="5870448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0</a:t>
            </a:r>
            <a:r>
              <a:rPr sz="1100" b="0">
                <a:solidFill>
                  <a:srgbClr val="DBE4F5"/>
                </a:solidFill>
                <a:latin typeface="Segoe UI"/>
              </a:rPr>
              <a:t> unverified actions on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8EA0C4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Decision Pipeline — 10 Stages, One Final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57276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73936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Freshness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0545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22386B"/>
                </a:solidFill>
                <a:latin typeface="Segoe UI"/>
              </a:rPr>
              <a:t>DETERMINISTIC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81328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57276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1773936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Hard Legal-Action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50545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22386B"/>
                </a:solidFill>
                <a:latin typeface="Segoe UI"/>
              </a:rPr>
              <a:t>DETERMINISTIC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481328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57276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773936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Opportunity Gating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50545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22386B"/>
                </a:solidFill>
                <a:latin typeface="Segoe UI"/>
              </a:rPr>
              <a:t>DETERMINISTIC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481328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E9EC"/>
          </a:solidFill>
          <a:ln w="9525">
            <a:solidFill>
              <a:srgbClr val="F3B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05672" y="1380744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40360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157276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1773936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Rival Estimation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50545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C81E2B"/>
                </a:solidFill>
                <a:latin typeface="Segoe UI"/>
              </a:rPr>
              <a:t>ML · LEARNED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481328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E9EC"/>
          </a:solidFill>
          <a:ln w="9525">
            <a:solidFill>
              <a:srgbClr val="F3B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45952" y="1380744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5952" y="140360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7776" y="157276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776" y="1773936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Traffic Risk (GNN/GAT)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50545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C81E2B"/>
                </a:solidFill>
                <a:latin typeface="Segoe UI"/>
              </a:rPr>
              <a:t>ML · LEARNED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980944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E9EC"/>
          </a:solidFill>
          <a:ln w="9525">
            <a:solidFill>
              <a:srgbClr val="F3B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84831" y="288036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831" y="290322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3072384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3273551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Overtake Probability (ML)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00507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C81E2B"/>
                </a:solidFill>
                <a:latin typeface="Segoe UI"/>
              </a:rPr>
              <a:t>ML · LEARNED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2980944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E9EC"/>
          </a:solidFill>
          <a:ln w="9525">
            <a:solidFill>
              <a:srgbClr val="F3B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25112" y="288036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290322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936" y="3072384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6936" y="3273551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Policy Proposal (PPO)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6936" y="400507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C81E2B"/>
                </a:solidFill>
                <a:latin typeface="Segoe UI"/>
              </a:rPr>
              <a:t>ML · LEARNED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2980944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101C3A"/>
          </a:solidFill>
          <a:ln w="9525">
            <a:solidFill>
              <a:srgbClr val="223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57216" y="3072384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FB2DD"/>
                </a:solidFill>
                <a:latin typeface="Segoe UI"/>
              </a:rPr>
              <a:t>STEP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7216" y="3273551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Monte Carlo Verifier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400507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E8B64C"/>
                </a:solidFill>
                <a:latin typeface="Segoe UI"/>
              </a:rPr>
              <a:t>STATISTICAL AUTHORITY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2980944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3072384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97496" y="3273551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Ranking + Fail-safe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97496" y="400507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22386B"/>
                </a:solidFill>
                <a:latin typeface="Segoe UI"/>
              </a:rPr>
              <a:t>DETERMINISTIC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2980944"/>
            <a:ext cx="21305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37776" y="3072384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STEP 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3273551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Explanation + 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7776" y="400507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1">
                <a:solidFill>
                  <a:srgbClr val="22386B"/>
                </a:solidFill>
                <a:latin typeface="Segoe UI"/>
              </a:rPr>
              <a:t>DETERMINISTIC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535424"/>
            <a:ext cx="6583680" cy="960120"/>
          </a:xfrm>
          <a:prstGeom prst="roundRect">
            <a:avLst>
              <a:gd name="adj" fmla="val 12000"/>
            </a:avLst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66344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E8B64C"/>
                </a:solidFill>
                <a:latin typeface="Segoe UI"/>
              </a:rPr>
              <a:t>Final say belongs to the verifier, not to any ML model.</a:t>
            </a:r>
            <a:r>
              <a:rPr sz="1250" b="0">
                <a:solidFill>
                  <a:srgbClr val="FFFFFF"/>
                </a:solidFill>
                <a:latin typeface="Segoe UI"/>
              </a:rPr>
              <a:t>  Every learned component proposes; the Monte Carlo verifier disposes. No model output reaches the car unverified.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4535424"/>
            <a:ext cx="437083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79" y="466344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C81E2B"/>
                </a:solidFill>
                <a:latin typeface="Segoe UI"/>
              </a:rPr>
              <a:t>Graceful degradation:</a:t>
            </a:r>
            <a:r>
              <a:rPr sz="1250" b="0">
                <a:solidFill>
                  <a:srgbClr val="1A2438"/>
                </a:solidFill>
                <a:latin typeface="Segoe UI"/>
              </a:rPr>
              <a:t>  if any model is unavailable or out-of-distribution, the pipeline falls back to deterministic rules and the verifier — never to an unsafe guess.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LEARNED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Five Learned Models, One Statistical Safety 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203704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463040"/>
            <a:ext cx="1947672" cy="50292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27632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MODEL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47088"/>
            <a:ext cx="1911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50" b="1">
                <a:solidFill>
                  <a:srgbClr val="0A1226"/>
                </a:solidFill>
                <a:latin typeface="Segoe UI"/>
              </a:rPr>
              <a:t>Overtake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59152"/>
            <a:ext cx="1911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Calibrated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70048"/>
            <a:ext cx="19110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A4763"/>
                </a:solidFill>
                <a:latin typeface="Segoe UI"/>
              </a:rPr>
              <a:t>Probability that an overtake attempt at the current track position will succeed. Probability-calibrated so downstream gating thresholds mean what they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4965192"/>
            <a:ext cx="1911096" cy="10972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056632"/>
            <a:ext cx="1911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16 engineered input features · trained on synthetic labelled scenarios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500" y="1463040"/>
            <a:ext cx="2203704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5516" y="1463040"/>
            <a:ext cx="1947672" cy="50292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3804" y="1627632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MODEL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3804" y="1847088"/>
            <a:ext cx="1911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50" b="1">
                <a:solidFill>
                  <a:srgbClr val="0A1226"/>
                </a:solidFill>
                <a:latin typeface="Segoe UI"/>
              </a:rPr>
              <a:t>Racer-Pattern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3804" y="2359152"/>
            <a:ext cx="1911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LSTM + Learned HMM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3804" y="2670048"/>
            <a:ext cx="19110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A4763"/>
                </a:solidFill>
                <a:latin typeface="Segoe UI"/>
              </a:rPr>
              <a:t>Encodes replay windows into a recurrent representation and learns transition structure over hidden tactical states, producing a live opponent belief.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3804" y="4965192"/>
            <a:ext cx="1911096" cy="10972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3804" y="5056632"/>
            <a:ext cx="1911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4 tactical states · Bayesian belief update each tick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1463040"/>
            <a:ext cx="2203704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4376" y="1463040"/>
            <a:ext cx="1947672" cy="50292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1627632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MODEL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1847088"/>
            <a:ext cx="1911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50" b="1">
                <a:solidFill>
                  <a:srgbClr val="0A1226"/>
                </a:solidFill>
                <a:latin typeface="Segoe UI"/>
              </a:rPr>
              <a:t>Traffic Graph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359152"/>
            <a:ext cx="1911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Custom PyTorch GNN / GAT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2670048"/>
            <a:ext cx="19110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A4763"/>
                </a:solidFill>
                <a:latin typeface="Segoe UI"/>
              </a:rPr>
              <a:t>Graph attention over the live car-to-car traffic graph to score congestion and post-pass risk around the ego vehicle and the target.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2664" y="4965192"/>
            <a:ext cx="1911096" cy="10972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5056632"/>
            <a:ext cx="1911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Attention-weighted neighbourhood · ablation-validated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5220" y="1463040"/>
            <a:ext cx="2203704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03236" y="1463040"/>
            <a:ext cx="1947672" cy="50292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1524" y="1627632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MODEL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1524" y="1847088"/>
            <a:ext cx="1911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50" b="1">
                <a:solidFill>
                  <a:srgbClr val="0A1226"/>
                </a:solidFill>
                <a:latin typeface="Segoe UI"/>
              </a:rPr>
              <a:t>Strategy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1524" y="2359152"/>
            <a:ext cx="1911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PPO — Stable-Baselines3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1524" y="2670048"/>
            <a:ext cx="19110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A4763"/>
                </a:solidFill>
                <a:latin typeface="Segoe UI"/>
              </a:rPr>
              <a:t>Proximal policy optimization proposing energy-deployment and overtake actions, trained in a domain-randomized Gymnasium environment.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1524" y="4965192"/>
            <a:ext cx="1911096" cy="10972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1524" y="5056632"/>
            <a:ext cx="1911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27-D observation · reward-shaped with hard penalties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463040"/>
            <a:ext cx="2203704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12096" y="1463040"/>
            <a:ext cx="1947672" cy="50292"/>
          </a:xfrm>
          <a:prstGeom prst="rect">
            <a:avLst/>
          </a:prstGeom>
          <a:solidFill>
            <a:srgbClr val="E8B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0384" y="1627632"/>
            <a:ext cx="1911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MODEL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0384" y="1847088"/>
            <a:ext cx="1911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50" b="1">
                <a:solidFill>
                  <a:srgbClr val="0A1226"/>
                </a:solidFill>
                <a:latin typeface="Segoe UI"/>
              </a:rPr>
              <a:t>Monte Carlo Verifier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0384" y="2359152"/>
            <a:ext cx="1911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8A6D1D"/>
                </a:solidFill>
                <a:latin typeface="Segoe UI"/>
              </a:rPr>
              <a:t>Statistical Safety 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2670048"/>
            <a:ext cx="191109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3A4763"/>
                </a:solidFill>
                <a:latin typeface="Segoe UI"/>
              </a:rPr>
              <a:t>Rolls candidate actions forward through the same physics the environment uses, rejecting anything that risks energy-reserve breach or collision.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30384" y="4965192"/>
            <a:ext cx="1911096" cy="10972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0384" y="5056632"/>
            <a:ext cx="1911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50" b="1">
                <a:solidFill>
                  <a:srgbClr val="5B6B8C"/>
                </a:solidFill>
                <a:latin typeface="Segoe UI"/>
              </a:rPr>
              <a:t>Not a learned model — and deliberately 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MODEL 01 —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Overtake Classifier — 16 Input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36776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target_gap_s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481328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1572768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636776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relative_speed_kph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81328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572768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636776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drs_available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481328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97696" y="1572768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636776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straight_remaining_m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76272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267712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331720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braking_zone_m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2176272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2267712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2331720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track_overtake_difficulty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2176272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2267712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2331720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ego_tyre_grip_estimate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2176272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7696" y="2267712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2331720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target_tyre_grip_estimate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871216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962656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026664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target_tyre_uncertainty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4992" y="2871216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64992" y="2962656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026664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laps_remaining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2871216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1344" y="2962656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026664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rear_gap_s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2871216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97696" y="2962656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3026664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rear_drs_risk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566160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3657600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721608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cars_within_3s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64992" y="3566160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64992" y="3657600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9584" y="3721608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post_pass_traffic_gap_s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1344" y="3566160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81344" y="3657600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3721608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recent_sector_delta_s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97696" y="3566160"/>
            <a:ext cx="272491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97696" y="3657600"/>
            <a:ext cx="45720" cy="384048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62288" y="3721608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01C3A"/>
                </a:solidFill>
                <a:latin typeface="Consolas"/>
              </a:rPr>
              <a:t>action_energy_level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425696"/>
            <a:ext cx="5532120" cy="1170432"/>
          </a:xfrm>
          <a:prstGeom prst="roundRect">
            <a:avLst>
              <a:gd name="adj" fmla="val 10000"/>
            </a:avLst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56285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Segoe UI"/>
              </a:rPr>
              <a:t>Model type:  </a:t>
            </a:r>
            <a:r>
              <a:rPr sz="1200" b="0">
                <a:solidFill>
                  <a:srgbClr val="FFFFFF"/>
                </a:solidFill>
                <a:latin typeface="Segoe UI"/>
              </a:rPr>
              <a:t>calibrated logistic regression — a deliberately transparent, probability-calibrated linear model over engineered race features, chosen so gating thresholds and audit logs remain interpretable.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425696"/>
            <a:ext cx="5422392" cy="1170432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9525">
            <a:solidFill>
              <a:srgbClr val="EC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562856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6B5416"/>
                </a:solidFill>
                <a:latin typeface="Segoe UI"/>
              </a:rPr>
              <a:t>Training-data caveat:  </a:t>
            </a:r>
            <a:r>
              <a:rPr sz="1200" b="0">
                <a:solidFill>
                  <a:srgbClr val="6B5416"/>
                </a:solidFill>
                <a:latin typeface="Segoe UI"/>
              </a:rPr>
              <a:t>the classifier is trained on synthetic labelled scenarios, not real F1 telemetry. Reported metrics reflect synthetic validation splits and must be re-estimated on real data before deployment.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Held-Out Performance — Honest Numbers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840480" cy="475488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81328"/>
            <a:ext cx="3566160" cy="475488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Train Split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481328"/>
            <a:ext cx="3685032" cy="475488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16002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Held-Out Track 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654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56816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6654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0.7449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956816"/>
            <a:ext cx="3685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2066544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81E2B"/>
                </a:solidFill>
                <a:latin typeface="Segoe UI"/>
              </a:rPr>
              <a:t>0.7827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32304"/>
            <a:ext cx="3840480" cy="475488"/>
          </a:xfrm>
          <a:prstGeom prst="rect">
            <a:avLst/>
          </a:prstGeom>
          <a:solidFill>
            <a:srgbClr val="FFF2F3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4203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432304"/>
            <a:ext cx="3566160" cy="475488"/>
          </a:xfrm>
          <a:prstGeom prst="rect">
            <a:avLst/>
          </a:prstGeom>
          <a:solidFill>
            <a:srgbClr val="FFF2F3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5420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0.7646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432304"/>
            <a:ext cx="3685032" cy="475488"/>
          </a:xfrm>
          <a:prstGeom prst="rect">
            <a:avLst/>
          </a:prstGeom>
          <a:solidFill>
            <a:srgbClr val="FFF2F3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2542032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81E2B"/>
                </a:solidFill>
                <a:latin typeface="Segoe UI"/>
              </a:rPr>
              <a:t>0.7706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07792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175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Log-loss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90779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175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0.5298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907792"/>
            <a:ext cx="3685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301752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0.4495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930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Brier 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383280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4930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0.1765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383280"/>
            <a:ext cx="36850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59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Segoe UI"/>
              </a:rPr>
              <a:t>0.1452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33088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0E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79392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FE3DE"/>
                </a:solidFill>
                <a:latin typeface="Segoe UI"/>
              </a:rPr>
              <a:t>GNN ABLATION — TRAFFIC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5537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MSE 0.0041 vs 0.0066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65776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DDEEEB"/>
                </a:solidFill>
                <a:latin typeface="Segoe UI"/>
              </a:rPr>
              <a:t>The GAT traffic-graph embedding beat the non-graph baseline on 3 of 4 evaluation categories — attention over the car graph captures congestion the flat baseline misses.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133088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5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4279392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0C4CE"/>
                </a:solidFill>
                <a:latin typeface="Segoe UI"/>
              </a:rPr>
              <a:t>PPO VS. VERIFIER — STRESS 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5537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FFFFFF"/>
                </a:solidFill>
                <a:latin typeface="Segoe UI"/>
              </a:rPr>
              <a:t>4.15% illegal-proposal · 10.3% divergence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5065776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F3D8DE"/>
                </a:solidFill>
                <a:latin typeface="Segoe UI"/>
              </a:rPr>
              <a:t>Across n = 2000 stress-test rollouts, the learned policy sometimes proposes illegal actions — and the verifier catches every one. This gap is exactly why verification gates the policy.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MODEL 02 — OPPONENT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Racer-Pattern Model — What Is the Other Car Thinking?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206654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627631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C81E2B"/>
                </a:solidFill>
                <a:latin typeface="Segoe U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28800"/>
            <a:ext cx="1810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Replay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267712"/>
            <a:ext cx="1810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Recent timed slices of rival behaviour on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900" y="20208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E02B38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3" y="1517904"/>
            <a:ext cx="206654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517904"/>
            <a:ext cx="1810511" cy="45720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627631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C81E2B"/>
                </a:solidFill>
                <a:latin typeface="Segoe UI"/>
              </a:rPr>
              <a:t>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28800"/>
            <a:ext cx="1810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LSTM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67712"/>
            <a:ext cx="1810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Recurrent encoding of the behaviour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9764" y="20208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E02B38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7" y="1517904"/>
            <a:ext cx="206654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8383" y="1517904"/>
            <a:ext cx="1810511" cy="45720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1627631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C81E2B"/>
                </a:solidFill>
                <a:latin typeface="Segoe UI"/>
              </a:rPr>
              <a:t>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3" y="1828800"/>
            <a:ext cx="1810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HMM Transitions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267712"/>
            <a:ext cx="1810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Learned transition structure over tactical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7" y="20208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E02B38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1231" y="1517904"/>
            <a:ext cx="206654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627631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C81E2B"/>
                </a:solidFill>
                <a:latin typeface="Segoe UI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1828800"/>
            <a:ext cx="1810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Live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267712"/>
            <a:ext cx="1810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Current-observable rival telemetry each tick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1492" y="20208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E02B38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12095" y="1517904"/>
            <a:ext cx="206654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40111" y="1517904"/>
            <a:ext cx="1810511" cy="45720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1" y="1627631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1">
                <a:solidFill>
                  <a:srgbClr val="C81E2B"/>
                </a:solidFill>
                <a:latin typeface="Segoe UI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1" y="1828800"/>
            <a:ext cx="1810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50" b="1">
                <a:solidFill>
                  <a:srgbClr val="0A1226"/>
                </a:solidFill>
                <a:latin typeface="Segoe UI"/>
              </a:rPr>
              <a:t>Opponent Belief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1" y="2267712"/>
            <a:ext cx="1810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Distribution over rival tactical intent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191256"/>
            <a:ext cx="2066543" cy="457200"/>
          </a:xfrm>
          <a:prstGeom prst="roundRect">
            <a:avLst>
              <a:gd name="adj" fmla="val 22000"/>
            </a:avLst>
          </a:prstGeom>
          <a:solidFill>
            <a:srgbClr val="18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HARVESTING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9503" y="3191256"/>
            <a:ext cx="2066543" cy="457200"/>
          </a:xfrm>
          <a:prstGeom prst="roundRect">
            <a:avLst>
              <a:gd name="adj" fmla="val 22000"/>
            </a:avLst>
          </a:prstGeom>
          <a:solidFill>
            <a:srgbClr val="C8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9503" y="330098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DEFENDING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0367" y="3191256"/>
            <a:ext cx="2066543" cy="457200"/>
          </a:xfrm>
          <a:prstGeom prst="roundRect">
            <a:avLst>
              <a:gd name="adj" fmla="val 22000"/>
            </a:avLst>
          </a:prstGeom>
          <a:solidFill>
            <a:srgbClr val="E8B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0367" y="330098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3A2C07"/>
                </a:solidFill>
                <a:latin typeface="Segoe UI"/>
              </a:rPr>
              <a:t>ATTACKING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71231" y="3191256"/>
            <a:ext cx="2066543" cy="457200"/>
          </a:xfrm>
          <a:prstGeom prst="roundRect">
            <a:avLst>
              <a:gd name="adj" fmla="val 22000"/>
            </a:avLst>
          </a:prstGeom>
          <a:solidFill>
            <a:srgbClr val="2F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3300984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CONSERVING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849624"/>
            <a:ext cx="11091672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95928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C81E2B"/>
                </a:solidFill>
                <a:latin typeface="Segoe UI"/>
              </a:rPr>
              <a:t>Bayesian opponent-belief filter:  </a:t>
            </a:r>
            <a:r>
              <a:rPr sz="1200" b="0">
                <a:solidFill>
                  <a:srgbClr val="1A2438"/>
                </a:solidFill>
                <a:latin typeface="Segoe UI"/>
              </a:rPr>
              <a:t>the belief state is a posterior distribution over hidden variables — the rival's state of charge (SOC), ERS / overtake-mode availability, and aero state. Each live observation updates the belief; the distribution (not a point guess) is what downstream gating consumes, so uncertainty about the opponent is carried through the pipeline explicitly.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MODEL 04 —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A1226"/>
                </a:solidFill>
                <a:latin typeface="Segoe UI"/>
              </a:rPr>
              <a:t>Strategy Policy — PPO Under Verification-Aware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60000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664208"/>
            <a:ext cx="128016" cy="128016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093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1226"/>
                </a:solidFill>
                <a:latin typeface="Segoe UI"/>
              </a:rPr>
              <a:t>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2029968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Gymnasium environment built on the same physics core the Monte Carlo verifier rolls forward — train and verification share one world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61488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Randomization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2761488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Domain randomization over race conditions so the policy cannot overfit a single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328416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3328416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Shaped reward with a hard reserve-breach penalty — energy-reserve violations are punished, not merely discouraged.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059936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4059936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Stable-Baselines3 PPO implementation.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463040"/>
            <a:ext cx="54406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1664208"/>
            <a:ext cx="128016" cy="128016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160934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1226"/>
                </a:solidFill>
                <a:latin typeface="Segoe UI"/>
              </a:rPr>
              <a:t>27-D Observation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0312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Telemetry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1031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2359152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2359152"/>
            <a:ext cx="1860804" cy="155448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670048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Temporal belief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6700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2926080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19088" y="2926080"/>
            <a:ext cx="2199132" cy="155448"/>
          </a:xfrm>
          <a:prstGeom prst="roundRect">
            <a:avLst>
              <a:gd name="adj" fmla="val 50000"/>
            </a:avLst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23697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Confidence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323697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3493008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19088" y="3493008"/>
            <a:ext cx="507492" cy="155448"/>
          </a:xfrm>
          <a:prstGeom prst="roundRect">
            <a:avLst>
              <a:gd name="adj" fmla="val 50000"/>
            </a:avLst>
          </a:prstGeom>
          <a:solidFill>
            <a:srgbClr val="E8B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849624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5B6B8C"/>
                </a:solidFill>
                <a:latin typeface="Segoe UI"/>
              </a:rPr>
              <a:t>The policy sees raw telemetry, the temporal belief stream from opponent modelling, and explicit confidence features — so it can learn when its own inputs are unreliable.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9525">
            <a:solidFill>
              <a:srgbClr val="EC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6B5416"/>
                </a:solidFill>
                <a:latin typeface="Segoe UI"/>
              </a:rPr>
              <a:t>Safety contract:  </a:t>
            </a:r>
            <a:r>
              <a:rPr sz="1150" b="0">
                <a:solidFill>
                  <a:srgbClr val="6B5416"/>
                </a:solidFill>
                <a:latin typeface="Segoe UI"/>
              </a:rPr>
              <a:t>a PPO proposal has no direct path to the car. It must first survive the hard legal-action mask and then the Monte Carlo verifier — the 4.15% illegal-proposal and 10.3% divergence rates from the stress test are absorbed by this gate, not by the driver.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SYSTEM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A1226"/>
                </a:solidFill>
                <a:latin typeface="Segoe UI"/>
              </a:rPr>
              <a:t>Component Ledger — Type, Inputs, Key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874519" cy="534924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591056"/>
            <a:ext cx="1618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444752"/>
            <a:ext cx="2240280" cy="534924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51176" y="1591056"/>
            <a:ext cx="1984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44752"/>
            <a:ext cx="3977639" cy="534924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5" y="1591056"/>
            <a:ext cx="3721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Inputs /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444752"/>
            <a:ext cx="2999232" cy="534924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9096" y="15910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Key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79676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061972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Overtake Classifier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1979676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2061972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Calibrated logistic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979676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5" y="2061972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16 engineered race features (gap, DRS, tyres, traffic, energy)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979676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9096" y="2061972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0.7827 accuracy / 0.7706 AUC on held-out track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14600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596896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Racer-Pattern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2514600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1176" y="2596896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LSTM + learned HMM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514600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5" y="2596896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Replay windows of rival behaviour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2514600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596896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4 tactical states: HARVESTING / DEFENDING / ATTACKING / CONSERVING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49524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131820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Opponent Belief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3049524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51176" y="3131820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Bayesian 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049524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5" y="3131820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Hidden variables: SOC, ERS/override availability, aero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3049524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3131820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Posterior belief updated each tick, consumed downstream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584448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3666744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Traffic Graph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3584448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51176" y="3666744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Custom PyTorch GNN / GAT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584448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1455" y="3666744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Live car-to-car traffic graph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3584448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69096" y="3666744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MSE 0.0041 vs 0.0066 baseline; won 3/4 ablation categories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119372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201668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Confidence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23160" y="4119372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51176" y="4201668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Feature layer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119372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91455" y="4201668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3 confidence features in the 27-D policy observation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41080" y="4119372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01668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Policy learns when its own inputs are unreliable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654296"/>
            <a:ext cx="187451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4736592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0A1226"/>
                </a:solidFill>
                <a:latin typeface="Segoe UI"/>
              </a:rPr>
              <a:t>Strategy Policy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23160" y="4654296"/>
            <a:ext cx="22402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51176" y="4736592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C81E2B"/>
                </a:solidFill>
                <a:latin typeface="Segoe UI"/>
              </a:rPr>
              <a:t>PPO (Stable-Baselines3)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654296"/>
            <a:ext cx="3977639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5" y="4736592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27-D obs: 11 telemetry + 13 temporal belief + 3 confidence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4654296"/>
            <a:ext cx="299923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69096" y="4736592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33405E"/>
                </a:solidFill>
                <a:latin typeface="Segoe UI"/>
              </a:rPr>
              <a:t>4.15% illegal-proposal rate under n = 2000 stress test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189220"/>
            <a:ext cx="1874519" cy="534924"/>
          </a:xfrm>
          <a:prstGeom prst="rect">
            <a:avLst/>
          </a:prstGeom>
          <a:solidFill>
            <a:srgbClr val="101C3A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" y="5271516"/>
            <a:ext cx="161848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Verifier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3160" y="5189220"/>
            <a:ext cx="2240280" cy="534924"/>
          </a:xfrm>
          <a:prstGeom prst="rect">
            <a:avLst/>
          </a:prstGeom>
          <a:solidFill>
            <a:srgbClr val="101C3A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51176" y="5271516"/>
            <a:ext cx="1984248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1">
                <a:solidFill>
                  <a:srgbClr val="E8B64C"/>
                </a:solidFill>
                <a:latin typeface="Segoe UI"/>
              </a:rPr>
              <a:t>Monte Carlo rollouts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5189220"/>
            <a:ext cx="3977639" cy="534924"/>
          </a:xfrm>
          <a:prstGeom prst="rect">
            <a:avLst/>
          </a:prstGeom>
          <a:solidFill>
            <a:srgbClr val="101C3A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91455" y="5271516"/>
            <a:ext cx="3721607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DBE4F5"/>
                </a:solidFill>
                <a:latin typeface="Segoe UI"/>
              </a:rPr>
              <a:t>Candidate actions + shared physics core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41080" y="5189220"/>
            <a:ext cx="2999232" cy="534924"/>
          </a:xfrm>
          <a:prstGeom prst="rect">
            <a:avLst/>
          </a:prstGeom>
          <a:solidFill>
            <a:srgbClr val="101C3A"/>
          </a:solidFill>
          <a:ln w="6350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69096" y="5271516"/>
            <a:ext cx="2743200" cy="406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DBE4F5"/>
                </a:solidFill>
                <a:latin typeface="Segoe UI"/>
              </a:rPr>
              <a:t>Catches 100% of illegal proposals — final authority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02B38"/>
                </a:solidFill>
                <a:latin typeface="Segoe UI"/>
              </a:rPr>
              <a:t>QUANTUM ACCELERATION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A1226"/>
                </a:solidFill>
                <a:latin typeface="Segoe UI"/>
              </a:rPr>
              <a:t>Quantum-Accelerated Monte Carlo — Millions of Combinations, One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60000"/>
            <a:ext cx="914400" cy="41148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" y="1664208"/>
            <a:ext cx="128016" cy="128016"/>
          </a:xfrm>
          <a:prstGeom prst="rect">
            <a:avLst/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093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1226"/>
                </a:solidFill>
                <a:latin typeface="Segoe UI"/>
              </a:rPr>
              <a:t>Simulation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Monte Carlo Rollouts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2029968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Every candidate action proposed by the policy is rolled forward through the shared physics core as a full simulation — the same world model the PPO policy trained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61488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Combinatorial Explosion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2761488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Each rollout explores a different combination of traffic states, energy deployment and rival reactions — millions of possible race futures computed for every decision tick.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328416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Quantum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3328416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The quantum accelerator powers the combinatorial calculation behind the simulation set, evaluating vast numbers of trajectory combinations in parallel where classical sampling runs out of budget.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059936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Statistical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4059936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3A4763"/>
                </a:solidFill>
                <a:latin typeface="Segoe UI"/>
              </a:rPr>
              <a:t>Aggregate rollout statistics decide accept or reject: any combination that risks energy-reserve breach or collision is discarded before it reaches the 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463040"/>
            <a:ext cx="544068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1664208"/>
            <a:ext cx="128016" cy="128016"/>
          </a:xfrm>
          <a:prstGeom prst="rect">
            <a:avLst/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160934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A1226"/>
                </a:solidFill>
                <a:latin typeface="Segoe UI"/>
              </a:rPr>
              <a:t>Scale of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0312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Combinations evaluated per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10312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1M+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2359152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2359152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0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670048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Candidate actions verified per 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6700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10s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2926080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19088" y="2926080"/>
            <a:ext cx="1524000" cy="155448"/>
          </a:xfrm>
          <a:prstGeom prst="roundRect">
            <a:avLst>
              <a:gd name="adj" fmla="val 50000"/>
            </a:avLst>
          </a:prstGeom>
          <a:solidFill>
            <a:srgbClr val="223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236976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Unverified actions on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323697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1C3A"/>
                </a:solidFill>
                <a:latin typeface="Segoe UI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3493008"/>
            <a:ext cx="4572000" cy="1554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19088" y="3493008"/>
            <a:ext cx="507492" cy="155448"/>
          </a:xfrm>
          <a:prstGeom prst="roundRect">
            <a:avLst>
              <a:gd name="adj" fmla="val 50000"/>
            </a:avLst>
          </a:prstGeom>
          <a:solidFill>
            <a:srgbClr val="E8B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849624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5B6B8C"/>
                </a:solidFill>
                <a:latin typeface="Segoe UI"/>
              </a:rPr>
              <a:t>Quantum acceleration feeds the verifier — it never replaces it. The Monte Carlo verifier keeps final authority; quantum compute simply makes its search wide enough to be trustworthy at race speed.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9525">
            <a:solidFill>
              <a:srgbClr val="EC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6B5416"/>
                </a:solidFill>
                <a:latin typeface="Segoe UI"/>
              </a:rPr>
              <a:t>Why quantum matters here:  verification quality is bounded by how many futures you can afford to check. With the quantum backend evaluating millions of combinations per decision, the safety net is wider, faster — and still 100% verified before anything touches the car.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B8C"/>
                </a:solidFill>
                <a:latin typeface="Segoe UI"/>
              </a:rPr>
              <a:t>ApexGuard — Verification-Gated AI Decision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01C3A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_Formula_1_Race_Car_Speeding_on_Track.png"/>
          <p:cNvPicPr>
            <a:picLocks noChangeAspect="1"/>
          </p:cNvPicPr>
          <p:nvPr/>
        </p:nvPicPr>
        <p:blipFill>
          <a:blip r:embed="rId2"/>
          <a:srcRect l="112" r="1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595360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060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4D5E"/>
                </a:solidFill>
                <a:latin typeface="Segoe UI"/>
              </a:rPr>
              <a:t>WHY THIS ARCHITECTURE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97863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53895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Graceful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37943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C2CFE8"/>
                </a:solidFill>
                <a:latin typeface="Segoe UI"/>
              </a:rPr>
              <a:t>Every learned component is optional. If a model is unavailable or out-of-distribution, deterministic rules and the verifier carry the decision — the system never guesses unsafely.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51560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197863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453895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Verifier as Final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37943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C2CFE8"/>
                </a:solidFill>
                <a:latin typeface="Segoe UI"/>
              </a:rPr>
              <a:t>No ML output reaches the car unverified. The Monte Carlo verifier — not the policy, not the classifier — has the last word on every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0672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36976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Honest Held-Out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C2CFE8"/>
                </a:solidFill>
                <a:latin typeface="Segoe UI"/>
              </a:rPr>
              <a:t>Metrics are reported on a held-out track split, with the synthetic-training caveat stated openly. We show the numbers we have, not the numbers we wish we had.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90672"/>
            <a:ext cx="5349240" cy="1783080"/>
          </a:xfrm>
          <a:prstGeom prst="roundRect">
            <a:avLst>
              <a:gd name="adj" fmla="val 9000"/>
            </a:avLst>
          </a:prstGeom>
          <a:solidFill>
            <a:srgbClr val="101C3A"/>
          </a:solidFill>
          <a:ln w="9525">
            <a:solidFill>
              <a:srgbClr val="3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236976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49300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Complementary Model Diversity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877056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C2CFE8"/>
                </a:solidFill>
                <a:latin typeface="Segoe UI"/>
              </a:rPr>
              <a:t>Five learned components with non-redundant roles — classification, sequence modelling, graph attention, RL, and statistical verification — so no single failure mode dominates.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235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ApexGuard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081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A0C4"/>
                </a:solidFill>
                <a:latin typeface="Segoe UI"/>
              </a:rPr>
              <a:t>Verification-Gated AI Decision Engine · Technical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